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ilda Display" charset="1" panose="02000000000000000000"/>
      <p:regular r:id="rId18"/>
    </p:embeddedFont>
    <p:embeddedFont>
      <p:font typeface="HK Grotesk Light" charset="1" panose="00000400000000000000"/>
      <p:regular r:id="rId19"/>
    </p:embeddedFont>
    <p:embeddedFont>
      <p:font typeface="HK Grotesk Bold" charset="1" panose="00000800000000000000"/>
      <p:regular r:id="rId20"/>
    </p:embeddedFont>
    <p:embeddedFont>
      <p:font typeface="HK Grotesk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0734675" y="680185"/>
            <a:ext cx="6886575" cy="4229702"/>
            <a:chOff x="0" y="0"/>
            <a:chExt cx="9182100" cy="563960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492393"/>
              <a:ext cx="9182100" cy="3147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23"/>
                </a:lnSpc>
              </a:pPr>
              <a:r>
                <a:rPr lang="en-US" sz="6023">
                  <a:solidFill>
                    <a:srgbClr val="2C3E5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Round 1 – Ideation &amp; Problem Understanding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071668"/>
              <a:ext cx="9182100" cy="9340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880"/>
                </a:lnSpc>
              </a:pPr>
              <a:r>
                <a:rPr lang="en-US" sz="42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IEEE HackConquest 2.0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27 Feb 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4248150"/>
            <a:ext cx="12639675" cy="2247900"/>
            <a:chOff x="0" y="0"/>
            <a:chExt cx="16852900" cy="2997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C3E5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Problem Statement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78075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the key challenges and stakeholders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1268288">
            <a:off x="-6005389" y="-6781594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6886575" cy="5372100"/>
            <a:chOff x="0" y="0"/>
            <a:chExt cx="1200275" cy="9363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936314"/>
            </a:xfrm>
            <a:custGeom>
              <a:avLst/>
              <a:gdLst/>
              <a:ahLst/>
              <a:cxnLst/>
              <a:rect r="r" b="b" t="t" l="l"/>
              <a:pathLst>
                <a:path h="936314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891345"/>
                  </a:lnTo>
                  <a:cubicBezTo>
                    <a:pt x="1200275" y="903272"/>
                    <a:pt x="1195537" y="914710"/>
                    <a:pt x="1187104" y="923143"/>
                  </a:cubicBezTo>
                  <a:cubicBezTo>
                    <a:pt x="1178670" y="931576"/>
                    <a:pt x="1167233" y="936314"/>
                    <a:pt x="1155306" y="936314"/>
                  </a:cubicBezTo>
                  <a:lnTo>
                    <a:pt x="44968" y="936314"/>
                  </a:lnTo>
                  <a:cubicBezTo>
                    <a:pt x="33042" y="936314"/>
                    <a:pt x="21604" y="931576"/>
                    <a:pt x="13171" y="923143"/>
                  </a:cubicBezTo>
                  <a:cubicBezTo>
                    <a:pt x="4738" y="914710"/>
                    <a:pt x="0" y="903272"/>
                    <a:pt x="0" y="89134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85" t="0" r="-85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838200"/>
            <a:ext cx="6886575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2C3E50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Problem Validation and Evidence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296400" y="7829550"/>
            <a:ext cx="6886575" cy="1302131"/>
            <a:chOff x="0" y="0"/>
            <a:chExt cx="9182100" cy="173617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Confirming the Existence of the Problem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79653"/>
              <a:ext cx="9182100" cy="956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</a:pPr>
              <a:r>
                <a:rPr lang="en-US" sz="2199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Recent surveys reveal </a:t>
              </a:r>
              <a:r>
                <a:rPr lang="en-US" b="true" sz="2199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significant concerns</a:t>
              </a:r>
              <a:r>
                <a:rPr lang="en-US" sz="2199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among users regarding the issue.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156052">
            <a:off x="16339169" y="8003391"/>
            <a:ext cx="5798378" cy="6902831"/>
          </a:xfrm>
          <a:custGeom>
            <a:avLst/>
            <a:gdLst/>
            <a:ahLst/>
            <a:cxnLst/>
            <a:rect r="r" b="b" t="t" l="l"/>
            <a:pathLst>
              <a:path h="6902831" w="5798378">
                <a:moveTo>
                  <a:pt x="0" y="0"/>
                </a:moveTo>
                <a:lnTo>
                  <a:pt x="5798378" y="0"/>
                </a:lnTo>
                <a:lnTo>
                  <a:pt x="5798378" y="6902831"/>
                </a:lnTo>
                <a:lnTo>
                  <a:pt x="0" y="6902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794940" y="1562100"/>
            <a:ext cx="7196660" cy="5810250"/>
            <a:chOff x="0" y="0"/>
            <a:chExt cx="9595546" cy="774700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155700"/>
              <a:ext cx="9595546" cy="6591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Identified key competitors</a:t>
              </a: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in the market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Evaluation of their </a:t>
              </a: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strengths and weaknesses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Comparison of features: pricing, </a:t>
              </a: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technology used</a:t>
              </a: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and accessibility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Opportunities for </a:t>
              </a: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improvement</a:t>
              </a: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within the current market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Gaps in service offerings that our solution can address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9525"/>
              <a:ext cx="959554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Competitive Landscape Overview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1562100"/>
            <a:ext cx="6886575" cy="6305550"/>
            <a:chOff x="0" y="0"/>
            <a:chExt cx="9182100" cy="84074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155700"/>
              <a:ext cx="9182100" cy="7251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solution stands out by offering: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Innovative technology</a:t>
              </a: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not offered by competitors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Enhanced user experience through simplified interfaces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Cost-effective solutions tailored for </a:t>
              </a: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target demographics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Superior customer support and engagement strategies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C3E5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Accessibility features that </a:t>
              </a: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broaden user reach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9525"/>
              <a:ext cx="91821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Unique Selling Proposition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13832">
            <a:off x="-4531687" y="6137129"/>
            <a:ext cx="8157874" cy="9711754"/>
          </a:xfrm>
          <a:custGeom>
            <a:avLst/>
            <a:gdLst/>
            <a:ahLst/>
            <a:cxnLst/>
            <a:rect r="r" b="b" t="t" l="l"/>
            <a:pathLst>
              <a:path h="9711754" w="815787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666750" y="838200"/>
            <a:ext cx="1695450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2C3E50"/>
                </a:solidFill>
                <a:latin typeface="Gilda Display"/>
                <a:ea typeface="Gilda Display"/>
                <a:cs typeface="Gilda Display"/>
                <a:sym typeface="Gilda Display"/>
              </a:rPr>
              <a:t>Innovation Highlights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5143500"/>
            <a:ext cx="8324850" cy="3276600"/>
            <a:chOff x="0" y="0"/>
            <a:chExt cx="11099800" cy="436880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10998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aspects of our solution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39900"/>
              <a:ext cx="11099800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Utilizes cutting-edge AI technology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User-friendly interface for accessibility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Eco-friendly materials for sustainability</a:t>
              </a:r>
            </a:p>
            <a:p>
              <a:pPr algn="l" marL="647700" indent="-323850" lvl="1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Real-time data analytics integration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" r="0" b="-18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133849"/>
            <a:chOff x="0" y="0"/>
            <a:chExt cx="11099800" cy="55117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5432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Our solution offers significant </a:t>
              </a: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environmental benefits</a:t>
              </a:r>
              <a:r>
                <a:rPr lang="en-US" sz="30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enhancing sustainability and improving quality of life for communities involved.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3098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C3E5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Impact Assessment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3002297"/>
            <a:ext cx="12639675" cy="3914808"/>
            <a:chOff x="0" y="0"/>
            <a:chExt cx="16852900" cy="521974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C3E5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Feasibility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51244"/>
              <a:ext cx="168529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Our project leverages cutting-edge technology, combined with our team's expertise, ensuring </a:t>
              </a: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effective implementation</a:t>
              </a:r>
              <a:r>
                <a:rPr lang="en-US" sz="30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and scalability to meet user needs and adapt to market demands.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86063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Assessing Technical and Practical Viability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38200"/>
            <a:ext cx="1407795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2C3E50"/>
                </a:solidFill>
                <a:latin typeface="Gilda Display"/>
                <a:ea typeface="Gilda Display"/>
                <a:cs typeface="Gilda Display"/>
                <a:sym typeface="Gilda Display"/>
              </a:rPr>
              <a:t>Implementation Timeline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4391025"/>
            <a:ext cx="285697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2C3E5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Research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80006" y="4391025"/>
            <a:ext cx="28593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2C3E5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Design</a:t>
            </a:r>
          </a:p>
        </p:txBody>
      </p:sp>
      <p:sp>
        <p:nvSpPr>
          <p:cNvPr name="AutoShape 5" id="5"/>
          <p:cNvSpPr/>
          <p:nvPr/>
        </p:nvSpPr>
        <p:spPr>
          <a:xfrm>
            <a:off x="990600" y="5457825"/>
            <a:ext cx="17607376" cy="0"/>
          </a:xfrm>
          <a:prstGeom prst="line">
            <a:avLst/>
          </a:prstGeom>
          <a:ln cap="flat" w="19050">
            <a:solidFill>
              <a:srgbClr val="2C3E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66750" y="5295900"/>
            <a:ext cx="323850" cy="32385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81575" y="5295900"/>
            <a:ext cx="323850" cy="32385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295615" y="5295900"/>
            <a:ext cx="323850" cy="32385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626015" y="5295900"/>
            <a:ext cx="323850" cy="323850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95615" y="4391025"/>
            <a:ext cx="28593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2C3E5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Development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11225" y="4391025"/>
            <a:ext cx="28782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2C3E5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Testing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5991225"/>
            <a:ext cx="2856970" cy="265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C3E50"/>
                </a:solidFill>
                <a:latin typeface="HK Grotesk"/>
                <a:ea typeface="HK Grotesk"/>
                <a:cs typeface="HK Grotesk"/>
                <a:sym typeface="HK Grotesk"/>
              </a:rPr>
              <a:t>Conduct preliminary surveys and gather initial insights.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91476" y="5991225"/>
            <a:ext cx="2859324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C3E50"/>
                </a:solidFill>
                <a:latin typeface="HK Grotesk"/>
                <a:ea typeface="HK Grotesk"/>
                <a:cs typeface="HK Grotesk"/>
                <a:sym typeface="HK Grotesk"/>
              </a:rPr>
              <a:t>Develop prototypes based on user feedback and findings.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295615" y="5991225"/>
            <a:ext cx="2859324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C3E50"/>
                </a:solidFill>
                <a:latin typeface="HK Grotesk"/>
                <a:ea typeface="HK Grotesk"/>
                <a:cs typeface="HK Grotesk"/>
                <a:sym typeface="HK Grotesk"/>
              </a:rPr>
              <a:t>Build the final product using the chosen technology.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11225" y="5991225"/>
            <a:ext cx="2878260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C3E50"/>
                </a:solidFill>
                <a:latin typeface="HK Grotesk"/>
                <a:ea typeface="HK Grotesk"/>
                <a:cs typeface="HK Grotesk"/>
                <a:sym typeface="HK Grotesk"/>
              </a:rPr>
              <a:t>Perform rigorous testing to ensure functionality and quality.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14077950" cy="2062247"/>
            <a:chOff x="0" y="0"/>
            <a:chExt cx="18770600" cy="2749662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71450"/>
              <a:ext cx="187706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C3E5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Risk Analysis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130537"/>
              <a:ext cx="187706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Identifying challenges and their solutions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66750" y="5143500"/>
            <a:ext cx="5448300" cy="3333750"/>
            <a:chOff x="0" y="0"/>
            <a:chExt cx="7264400" cy="444500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Technical Risks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1155700"/>
              <a:ext cx="7264400" cy="328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 strike="noStrike" u="none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technology may not perform as expected, leading to project delays. Regular testing and prototyping can mitigate this risk effectively.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19850" y="5143500"/>
            <a:ext cx="5448300" cy="3829050"/>
            <a:chOff x="0" y="0"/>
            <a:chExt cx="7264400" cy="510540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Market Risks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155700"/>
              <a:ext cx="7264400" cy="394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 strike="noStrike" u="none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Competition may undermine our market entry, impacting user adoption. Conducting thorough market research and refining our value proposition can help address this challenge.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172950" y="5143500"/>
            <a:ext cx="5448300" cy="3829050"/>
            <a:chOff x="0" y="0"/>
            <a:chExt cx="7264400" cy="510540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"/>
              <a:ext cx="72644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trike="noStrike" u="none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Operational Risks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155700"/>
              <a:ext cx="7264400" cy="394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 strike="noStrike" u="none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Resource shortages or team member turnover could disrupt progress. Establishing strong partnerships and a clear resource management plan can minimize this risk significantly.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96400" y="1562100"/>
            <a:ext cx="4010025" cy="4476750"/>
            <a:chOff x="0" y="0"/>
            <a:chExt cx="909703" cy="10155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9703" cy="1015582"/>
            </a:xfrm>
            <a:custGeom>
              <a:avLst/>
              <a:gdLst/>
              <a:ahLst/>
              <a:cxnLst/>
              <a:rect r="r" b="b" t="t" l="l"/>
              <a:pathLst>
                <a:path h="1015582" w="909703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938357"/>
                  </a:lnTo>
                  <a:cubicBezTo>
                    <a:pt x="909703" y="981007"/>
                    <a:pt x="875127" y="1015582"/>
                    <a:pt x="832477" y="1015582"/>
                  </a:cubicBezTo>
                  <a:lnTo>
                    <a:pt x="77226" y="1015582"/>
                  </a:lnTo>
                  <a:cubicBezTo>
                    <a:pt x="34575" y="1015582"/>
                    <a:pt x="0" y="981007"/>
                    <a:pt x="0" y="938357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464" r="0" b="-464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611225" y="1595097"/>
            <a:ext cx="4010025" cy="4443753"/>
            <a:chOff x="0" y="0"/>
            <a:chExt cx="909703" cy="1008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703" cy="1008097"/>
            </a:xfrm>
            <a:custGeom>
              <a:avLst/>
              <a:gdLst/>
              <a:ahLst/>
              <a:cxnLst/>
              <a:rect r="r" b="b" t="t" l="l"/>
              <a:pathLst>
                <a:path h="1008097" w="909703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930871"/>
                  </a:lnTo>
                  <a:cubicBezTo>
                    <a:pt x="909703" y="973522"/>
                    <a:pt x="875127" y="1008097"/>
                    <a:pt x="832477" y="1008097"/>
                  </a:cubicBezTo>
                  <a:lnTo>
                    <a:pt x="77226" y="1008097"/>
                  </a:lnTo>
                  <a:cubicBezTo>
                    <a:pt x="34575" y="1008097"/>
                    <a:pt x="0" y="973522"/>
                    <a:pt x="0" y="930871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3" r="0" b="-133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450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2C3E50"/>
                </a:solidFill>
                <a:latin typeface="Gilda Display"/>
                <a:ea typeface="Gilda Display"/>
                <a:cs typeface="Gilda Display"/>
                <a:sym typeface="Gilda Display"/>
              </a:rPr>
              <a:t>Team Members and Their Roles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6934200"/>
            <a:ext cx="4010025" cy="1408099"/>
            <a:chOff x="0" y="0"/>
            <a:chExt cx="5346700" cy="187746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Project Lead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20944"/>
              <a:ext cx="534670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Responsible for overall project management and coordination.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6934200"/>
            <a:ext cx="4010025" cy="1408099"/>
            <a:chOff x="0" y="0"/>
            <a:chExt cx="5346700" cy="187746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9525"/>
              <a:ext cx="5345796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Developer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920944"/>
              <a:ext cx="5346700" cy="956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Builds and implements the technical aspects of the project.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" r="0" b="-18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019424"/>
            <a:chOff x="0" y="0"/>
            <a:chExt cx="11099800" cy="40258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057399"/>
              <a:ext cx="11099800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Our innovative solution addresses critical needs, ensuring both feasibility and a positive impact for stakeholders moving forward.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C3E5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Conclusion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F0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4248150"/>
            <a:ext cx="12639675" cy="2247900"/>
            <a:chOff x="0" y="0"/>
            <a:chExt cx="16852900" cy="2997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68529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2C3E50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Questions?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78075"/>
              <a:ext cx="16852900" cy="619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2C3E50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Feel free to reach out for more information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-1268288">
            <a:off x="-6005389" y="-6781594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Round 1 – Ideation &amp; Problem Understanding</dc:description>
  <dc:identifier>DAHCfsZjO2I</dc:identifier>
  <dcterms:modified xsi:type="dcterms:W3CDTF">2011-08-01T06:04:30Z</dcterms:modified>
  <cp:revision>1</cp:revision>
  <dc:title>Presentation - Round 1 – Ideation &amp; Problem Understanding</dc:title>
</cp:coreProperties>
</file>